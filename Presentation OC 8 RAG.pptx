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7" r:id="rId7"/>
    <p:sldId id="260" r:id="rId8"/>
    <p:sldId id="262" r:id="rId9"/>
    <p:sldId id="268" r:id="rId10"/>
    <p:sldId id="266" r:id="rId11"/>
    <p:sldId id="26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B"/>
    <a:srgbClr val="F9F7F7"/>
    <a:srgbClr val="FCFBFB"/>
    <a:srgbClr val="FAF8F6"/>
    <a:srgbClr val="FDFCFB"/>
    <a:srgbClr val="F2F2F2"/>
    <a:srgbClr val="2B1515"/>
    <a:srgbClr val="E04556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06:36.93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06:36.93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3F94D-304E-4D30-8C20-D1219E81F7A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81B3-3C1C-49CA-BF56-0FD5554D5B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13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41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C41E-E40D-EBBC-2D74-32E733EB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802585-66D6-B8FF-C2BB-99F308F82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D0C969-5DB1-134E-645C-CF4542C10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83F8BE-1BB6-A1DB-5F45-1457BDE9B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17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9CAA-40F2-3BA0-F538-1F0824CF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A3F073-E3FD-2008-98B8-B7F95B2C5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35A7A7-11A6-3795-DB9E-1BA70C7C8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D1129C-65CA-F781-317B-846448674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40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9B9B-2579-F69B-08E7-97825187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C6E589-382D-72BA-D05B-97A63FE12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0F7780-D1EE-6A29-28A4-97FD59D6C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F57B14-C33F-719D-A87B-67D87D90E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137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8D0A-A4A2-39C5-1B0A-9B8BD62C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5CACF1-843C-05EC-CF9E-67CD54164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880B5B-9C4E-7B65-BF52-3265EC43D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CC0422-F247-4234-3F24-49348DA2C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47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74E1-BDF9-6A3D-1B29-71D932EE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59483B-F276-40D5-5CE7-F1F3A86D2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4E1D11-A218-5039-9DE1-73217592B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605BB9-7FCE-C5A1-5008-6B5B62AE8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42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B26A-2402-2ED5-2837-6F6B6E24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CFA3AC-1D06-B869-0579-FCB83B03E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5DCE20-F3EB-D566-B216-9A069B358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A7B4B3-8578-9472-E549-EF1BC04D7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49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063EE-A9E7-F587-AD60-485C6F08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B6E2AA-EC9B-B7B3-A695-4C09CCB6F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76154A-FAED-DD16-08C1-105B97469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DD49ED-BB91-3D33-0417-82CB7A09C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163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830-5AE8-D3A9-2687-515225A4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A0C6D5-7563-73AB-7CEA-E79B22810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D61322-CC41-8FF9-0651-F68D61E6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0940F1-4A43-7D4D-D2FA-792AD0079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81B3-3C1C-49CA-BF56-0FD5554D5BA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020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86D5B-0F5D-550A-1E55-23C8062B2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2E937E-E7CD-B033-69D2-F60A08245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7B3C54-14EC-9BEC-6A5D-5840D444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B27D8D-4F55-1AB8-D95A-5CFA6CD9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CDA8DD-45DC-F988-A798-41797EFC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807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5E3D1-F83C-6015-94B8-C2434032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F7F13-13B0-1248-24AF-BB0F589C4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4C1C44-BAED-0DDC-24F4-71BB1D8CA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FE38D-5D4E-C381-B125-618321E9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3480D2-C935-0436-FDD8-A299722E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255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985F6-35DB-A625-B0AD-043AF275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861B4-D1F5-BB03-82B0-2F2E4CB90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9E9EB6-FD8D-527E-D5C4-C98FC48E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0FE892-EFEB-863E-0187-2B21712A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4FBD3E-F66D-7E0F-2CAA-E26F23D9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414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5F9DBB-7E96-9758-1DC8-85BEC4BE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776A6D-0C52-229B-6D85-55EEAAA94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A9AFD-210E-D528-2CFF-2B1F4FFF2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ED0ECE-78AB-6F71-F1F6-226AE390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E59FBA-D2F8-3C31-E3BC-19ECBC54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D5E9F2-F5DC-9498-9C81-B0D89144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531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042CF-28EF-EE2C-9F86-8558BCE6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56DB08-2FE2-54E4-A4A7-09AC18EE7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C8B847-ED4F-5D4C-7187-19E8B4E05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B44DEFC-47D7-E6E5-156C-6671E9BED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3CB741-B5F8-3BE6-96D5-D9EA3F5C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33DD56-A740-1668-D06C-A30361C0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85D348-8EAB-A5F0-5ED3-0120F404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1D38EF-CA69-E225-21EA-39D33BD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688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1149A-57A0-A1D1-41DF-BCC430FB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B3CA31-E703-FD81-0F61-2F9402F8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A9F9F6-C693-1E47-20AA-81EB4004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1403D1-924D-B609-424F-4FC6BF6C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506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369454-2771-DBBA-BB23-CE198E3F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3EC0A38-05F3-012A-F927-EAC2171E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D50A5A-CB17-CC0B-6B6E-B320BDAE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12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3F8D0-4262-3BF9-656E-6927087D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3E932E-F0E0-E475-0EDF-DCE3AB6E3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14C1C3-B9D4-82AB-C5C9-E4C15B44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906488-172D-87E1-669C-59C2E3C59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7D4F1B-ABC6-3615-DCF6-DE8A7D79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E9E909-D87D-9109-1B28-5FC3AB7B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37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DF028E-A810-4718-7A5F-9F0AC139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BDDC96E-3651-9D57-04EF-FB1B6BAC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E65649-5381-BE4A-D092-9C2EB35D4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C1AD31-FBD8-06A0-77E1-B4612740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73DE6C-D782-BB03-1536-38F809C7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8A8048-62F0-791A-6FFF-5F616BCD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411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A5C6F1-73EF-264C-4765-E7011BF1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5D7086-F3EA-49B6-383B-7123FBC1F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0515E5-3CF4-9F17-14D9-E243319D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78E4B9-194C-0AF8-FB49-83CC5042D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80BC53-6456-0217-5A4B-6BC07E4D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9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D9B2C75-0085-6898-0AC9-025E0A398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0454A0-BE9B-C2F5-4F30-6ADAD3960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28F364-EDAF-0D13-3AEA-CE9D9536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9E2929-23C8-2107-A1CD-49B15402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4D27AC-FE36-8535-924A-2A2C15F9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88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EF001B0-DE6C-BD87-92C9-E7225AE9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B05E1-1124-ED5B-4A1F-CD279AA59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0F6F82-8271-39F8-1E9B-3A2A4B914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89C68-2EEE-4AC9-B3E2-D52A559D6BF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5BBE73-5912-F45D-380C-C84EA98F3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B866B6-90EC-EFA8-36E2-E738743FD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4E5CA-0F55-4051-B9EC-0C210716AF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88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356CC6-561B-1303-F8CB-40AC7F6FC778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AFE19A-157F-B6B0-A7CF-937E0CE82DDC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C728A6-18B9-B597-1C6B-8173493AC6C4}"/>
              </a:ext>
            </a:extLst>
          </p:cNvPr>
          <p:cNvSpPr/>
          <p:nvPr/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rgbClr val="2B15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C49569-2363-C8AA-0DB8-A243228F3A5C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7F7F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227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B148-AACF-36FE-AB1E-FC1D4C7F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A8547D71-B82D-3B92-9DDD-596C7125D17E}"/>
                  </a:ext>
                </a:extLst>
              </p14:cNvPr>
              <p14:cNvContentPartPr/>
              <p14:nvPr/>
            </p14:nvContentPartPr>
            <p14:xfrm>
              <a:off x="-489150" y="3238180"/>
              <a:ext cx="360" cy="36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A8547D71-B82D-3B92-9DDD-596C7125D1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95270" y="32320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FADADB9-703F-9E19-5C16-B08FBE900506}"/>
              </a:ext>
            </a:extLst>
          </p:cNvPr>
          <p:cNvSpPr/>
          <p:nvPr/>
        </p:nvSpPr>
        <p:spPr>
          <a:xfrm>
            <a:off x="0" y="1333500"/>
            <a:ext cx="12192000" cy="4189920"/>
          </a:xfrm>
          <a:prstGeom prst="rect">
            <a:avLst/>
          </a:prstGeom>
          <a:solidFill>
            <a:srgbClr val="FDFC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3E559B-3CF0-97D4-0E2F-ED4B4E882DD8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B6621-16DD-F7BC-3B24-4E9D6F91C7A4}"/>
              </a:ext>
            </a:extLst>
          </p:cNvPr>
          <p:cNvSpPr/>
          <p:nvPr/>
        </p:nvSpPr>
        <p:spPr>
          <a:xfrm>
            <a:off x="0" y="5524500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E09EDCDC-3915-3D81-67EE-903C589C0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75F36CE8-49D4-8CC4-23CA-B83FC28FB36C}"/>
              </a:ext>
            </a:extLst>
          </p:cNvPr>
          <p:cNvSpPr txBox="1"/>
          <p:nvPr/>
        </p:nvSpPr>
        <p:spPr>
          <a:xfrm>
            <a:off x="0" y="6145083"/>
            <a:ext cx="363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ongenial" panose="020F0502020204030204" pitchFamily="2" charset="0"/>
              </a:rPr>
              <a:t>Réalisateur:</a:t>
            </a:r>
            <a:r>
              <a:rPr lang="fr-FR" dirty="0">
                <a:latin typeface="Congenial" panose="020F0502020204030204" pitchFamily="2" charset="0"/>
              </a:rPr>
              <a:t> BRAVO José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E416238-4AC5-3C87-A939-F1BA0F9616FA}"/>
              </a:ext>
            </a:extLst>
          </p:cNvPr>
          <p:cNvSpPr txBox="1"/>
          <p:nvPr/>
        </p:nvSpPr>
        <p:spPr>
          <a:xfrm>
            <a:off x="4848224" y="-532199"/>
            <a:ext cx="1924050" cy="523220"/>
          </a:xfrm>
          <a:prstGeom prst="rect">
            <a:avLst/>
          </a:prstGeom>
          <a:solidFill>
            <a:srgbClr val="F2F2F2"/>
          </a:solidFill>
          <a:ln>
            <a:solidFill>
              <a:srgbClr val="2B1515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Congenial" panose="020F0502020204030204" pitchFamily="2" charset="0"/>
              </a:rPr>
              <a:t>Sommaire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96E461-7BAE-E09F-9C22-0E761F1603D9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EBAF87CA-EA2F-DF1C-9ED4-942B1ABFC274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97D61F1D-DF44-54EB-3265-96ED4E634EB2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944996-599E-0630-2BB7-056935B17B33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2" name="Graphic 11" descr="Flip calendar">
              <a:extLst>
                <a:ext uri="{FF2B5EF4-FFF2-40B4-BE49-F238E27FC236}">
                  <a16:creationId xmlns:a16="http://schemas.microsoft.com/office/drawing/2014/main" id="{0EB7EBCE-78D5-5047-028F-239ED5BAD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B5481C1-38C8-0E5D-7038-2DA986395B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641" y="2245117"/>
            <a:ext cx="6853216" cy="3115201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997D3CC-D786-E61A-907E-62E24FF4F098}"/>
              </a:ext>
            </a:extLst>
          </p:cNvPr>
          <p:cNvSpPr txBox="1"/>
          <p:nvPr/>
        </p:nvSpPr>
        <p:spPr>
          <a:xfrm>
            <a:off x="0" y="1588038"/>
            <a:ext cx="10340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ongenial Black" panose="020F0502020204030204" pitchFamily="2" charset="0"/>
              </a:rPr>
              <a:t>Système RAG:</a:t>
            </a:r>
            <a:br>
              <a:rPr lang="fr-FR" sz="2400" dirty="0">
                <a:latin typeface="Congenial Black" panose="020F0502020204030204" pitchFamily="2" charset="0"/>
              </a:rPr>
            </a:br>
            <a:r>
              <a:rPr lang="fr-FR" sz="2400" dirty="0">
                <a:latin typeface="Congenial Black" panose="020F0502020204030204" pitchFamily="2" charset="0"/>
              </a:rPr>
              <a:t>Assistant pour recommander des événements culturels</a:t>
            </a:r>
            <a:endParaRPr lang="fr-FR" sz="2400" dirty="0">
              <a:latin typeface="Congenial" panose="020F0502020204030204" pitchFamily="2" charset="0"/>
            </a:endParaRPr>
          </a:p>
        </p:txBody>
      </p:sp>
      <p:sp>
        <p:nvSpPr>
          <p:cNvPr id="15" name="ZoneTexte 20">
            <a:extLst>
              <a:ext uri="{FF2B5EF4-FFF2-40B4-BE49-F238E27FC236}">
                <a16:creationId xmlns:a16="http://schemas.microsoft.com/office/drawing/2014/main" id="{785FFC71-9042-E006-7C38-01BAB09ADD04}"/>
              </a:ext>
            </a:extLst>
          </p:cNvPr>
          <p:cNvSpPr txBox="1"/>
          <p:nvPr/>
        </p:nvSpPr>
        <p:spPr>
          <a:xfrm>
            <a:off x="-1232193" y="3911219"/>
            <a:ext cx="1234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err="1">
                <a:latin typeface="Congenial" panose="02000503040000020004" pitchFamily="2" charset="0"/>
              </a:rPr>
              <a:t>OpenAgenda,Mistral</a:t>
            </a:r>
            <a:endParaRPr lang="fr-FR" sz="1100" dirty="0">
              <a:latin typeface="Congenial" panose="02000503040000020004" pitchFamily="2" charset="0"/>
            </a:endParaRPr>
          </a:p>
        </p:txBody>
      </p:sp>
      <p:sp>
        <p:nvSpPr>
          <p:cNvPr id="16" name="Rectangle : coins arrondis 35">
            <a:extLst>
              <a:ext uri="{FF2B5EF4-FFF2-40B4-BE49-F238E27FC236}">
                <a16:creationId xmlns:a16="http://schemas.microsoft.com/office/drawing/2014/main" id="{BC4A1ACD-7E08-6441-82C5-58D89E7D8D64}"/>
              </a:ext>
            </a:extLst>
          </p:cNvPr>
          <p:cNvSpPr/>
          <p:nvPr/>
        </p:nvSpPr>
        <p:spPr>
          <a:xfrm>
            <a:off x="-2661719" y="3701072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  <p:sp>
        <p:nvSpPr>
          <p:cNvPr id="17" name="ZoneTexte 26">
            <a:extLst>
              <a:ext uri="{FF2B5EF4-FFF2-40B4-BE49-F238E27FC236}">
                <a16:creationId xmlns:a16="http://schemas.microsoft.com/office/drawing/2014/main" id="{F4D3562B-4B18-805B-48A7-3C46E684E62F}"/>
              </a:ext>
            </a:extLst>
          </p:cNvPr>
          <p:cNvSpPr txBox="1"/>
          <p:nvPr/>
        </p:nvSpPr>
        <p:spPr>
          <a:xfrm>
            <a:off x="-1257988" y="4920072"/>
            <a:ext cx="1306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Tests et améliorations</a:t>
            </a:r>
          </a:p>
        </p:txBody>
      </p:sp>
      <p:sp>
        <p:nvSpPr>
          <p:cNvPr id="19" name="Rectangle : coins arrondis 36">
            <a:extLst>
              <a:ext uri="{FF2B5EF4-FFF2-40B4-BE49-F238E27FC236}">
                <a16:creationId xmlns:a16="http://schemas.microsoft.com/office/drawing/2014/main" id="{EBE096BB-79E1-DFEB-5510-228D56FA52D8}"/>
              </a:ext>
            </a:extLst>
          </p:cNvPr>
          <p:cNvSpPr/>
          <p:nvPr/>
        </p:nvSpPr>
        <p:spPr>
          <a:xfrm>
            <a:off x="-2701580" y="4709925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  <p:sp>
        <p:nvSpPr>
          <p:cNvPr id="21" name="ZoneTexte 27">
            <a:extLst>
              <a:ext uri="{FF2B5EF4-FFF2-40B4-BE49-F238E27FC236}">
                <a16:creationId xmlns:a16="http://schemas.microsoft.com/office/drawing/2014/main" id="{DDC1C7FD-CD87-3751-54DF-CF0E0817E8B5}"/>
              </a:ext>
            </a:extLst>
          </p:cNvPr>
          <p:cNvSpPr txBox="1"/>
          <p:nvPr/>
        </p:nvSpPr>
        <p:spPr>
          <a:xfrm>
            <a:off x="-1140170" y="2902366"/>
            <a:ext cx="1042204" cy="38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GitHub, CI/CD, </a:t>
            </a:r>
            <a:r>
              <a:rPr lang="fr-FR" sz="1100" dirty="0" err="1">
                <a:latin typeface="Congenial" panose="02000503040000020004" pitchFamily="2" charset="0"/>
              </a:rPr>
              <a:t>readme</a:t>
            </a:r>
            <a:r>
              <a:rPr lang="fr-FR" sz="1100" dirty="0">
                <a:latin typeface="Congenial" panose="02000503040000020004" pitchFamily="2" charset="0"/>
              </a:rPr>
              <a:t>, etc.</a:t>
            </a:r>
          </a:p>
        </p:txBody>
      </p:sp>
      <p:sp>
        <p:nvSpPr>
          <p:cNvPr id="23" name="Rectangle : coins arrondis 37">
            <a:extLst>
              <a:ext uri="{FF2B5EF4-FFF2-40B4-BE49-F238E27FC236}">
                <a16:creationId xmlns:a16="http://schemas.microsoft.com/office/drawing/2014/main" id="{770A1918-94F0-9F7A-17AF-F9A7A3834584}"/>
              </a:ext>
            </a:extLst>
          </p:cNvPr>
          <p:cNvSpPr/>
          <p:nvPr/>
        </p:nvSpPr>
        <p:spPr>
          <a:xfrm>
            <a:off x="-2585156" y="2692219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  <p:sp>
        <p:nvSpPr>
          <p:cNvPr id="36" name="ZoneTexte 22">
            <a:extLst>
              <a:ext uri="{FF2B5EF4-FFF2-40B4-BE49-F238E27FC236}">
                <a16:creationId xmlns:a16="http://schemas.microsoft.com/office/drawing/2014/main" id="{D8063A7B-ED68-7CA6-3D18-5E89E173FB39}"/>
              </a:ext>
            </a:extLst>
          </p:cNvPr>
          <p:cNvSpPr txBox="1"/>
          <p:nvPr/>
        </p:nvSpPr>
        <p:spPr>
          <a:xfrm>
            <a:off x="-1165605" y="1880684"/>
            <a:ext cx="1042204" cy="168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Objectifs</a:t>
            </a:r>
          </a:p>
        </p:txBody>
      </p:sp>
      <p:sp>
        <p:nvSpPr>
          <p:cNvPr id="37" name="Rectangle : coins arrondis 31">
            <a:extLst>
              <a:ext uri="{FF2B5EF4-FFF2-40B4-BE49-F238E27FC236}">
                <a16:creationId xmlns:a16="http://schemas.microsoft.com/office/drawing/2014/main" id="{E60D48A6-222E-ED48-1C67-B660FEAFEEFA}"/>
              </a:ext>
            </a:extLst>
          </p:cNvPr>
          <p:cNvSpPr/>
          <p:nvPr/>
        </p:nvSpPr>
        <p:spPr>
          <a:xfrm>
            <a:off x="-2610591" y="168336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  <p:sp>
        <p:nvSpPr>
          <p:cNvPr id="38" name="ZoneTexte 26">
            <a:extLst>
              <a:ext uri="{FF2B5EF4-FFF2-40B4-BE49-F238E27FC236}">
                <a16:creationId xmlns:a16="http://schemas.microsoft.com/office/drawing/2014/main" id="{EB1ED54A-358C-4EB3-722B-4CD67714BA1B}"/>
              </a:ext>
            </a:extLst>
          </p:cNvPr>
          <p:cNvSpPr txBox="1"/>
          <p:nvPr/>
        </p:nvSpPr>
        <p:spPr>
          <a:xfrm>
            <a:off x="-1452915" y="5928923"/>
            <a:ext cx="1444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Exécution complète</a:t>
            </a:r>
          </a:p>
        </p:txBody>
      </p:sp>
      <p:sp>
        <p:nvSpPr>
          <p:cNvPr id="39" name="Rectangle : coins arrondis 36">
            <a:extLst>
              <a:ext uri="{FF2B5EF4-FFF2-40B4-BE49-F238E27FC236}">
                <a16:creationId xmlns:a16="http://schemas.microsoft.com/office/drawing/2014/main" id="{E82A5ED9-B4D5-4A7E-B81C-C6C0839C3EEA}"/>
              </a:ext>
            </a:extLst>
          </p:cNvPr>
          <p:cNvSpPr/>
          <p:nvPr/>
        </p:nvSpPr>
        <p:spPr>
          <a:xfrm>
            <a:off x="-2896507" y="571877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807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4234-9100-AEFD-E866-91825E54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B99CAB93-000E-4D0C-8D3F-BC5B22F73318}"/>
                  </a:ext>
                </a:extLst>
              </p14:cNvPr>
              <p14:cNvContentPartPr/>
              <p14:nvPr/>
            </p14:nvContentPartPr>
            <p14:xfrm>
              <a:off x="-489150" y="3238180"/>
              <a:ext cx="360" cy="36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B99CAB93-000E-4D0C-8D3F-BC5B22F733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95270" y="32320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9262204-45A8-E61F-699B-C1CC9507B2DA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409B5-D842-5A12-A618-7FB5C01246EB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543B9DF4-3EB9-9B73-EEE8-7B443F49E9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B27EAED6-3789-8313-C8F1-7CC241235332}"/>
              </a:ext>
            </a:extLst>
          </p:cNvPr>
          <p:cNvSpPr txBox="1"/>
          <p:nvPr/>
        </p:nvSpPr>
        <p:spPr>
          <a:xfrm>
            <a:off x="5103249" y="1062911"/>
            <a:ext cx="1924050" cy="523220"/>
          </a:xfrm>
          <a:prstGeom prst="rect">
            <a:avLst/>
          </a:prstGeom>
          <a:solidFill>
            <a:srgbClr val="F2F2F2"/>
          </a:solidFill>
          <a:ln>
            <a:solidFill>
              <a:srgbClr val="2B1515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Congenial" panose="020F0502020204030204" pitchFamily="2" charset="0"/>
              </a:rPr>
              <a:t>Sommaire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AC5998E-6E34-D438-6904-0EBCE861211D}"/>
              </a:ext>
            </a:extLst>
          </p:cNvPr>
          <p:cNvSpPr txBox="1"/>
          <p:nvPr/>
        </p:nvSpPr>
        <p:spPr>
          <a:xfrm>
            <a:off x="4600244" y="3911219"/>
            <a:ext cx="1234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err="1">
                <a:latin typeface="Congenial" panose="02000503040000020004" pitchFamily="2" charset="0"/>
              </a:rPr>
              <a:t>OpenAgenda,Mistral</a:t>
            </a:r>
            <a:endParaRPr lang="fr-FR" sz="1100" dirty="0">
              <a:latin typeface="Congenial" panose="02000503040000020004" pitchFamily="2" charset="0"/>
            </a:endParaRP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68EBA67B-BB73-1E83-1C14-88FE705CA7D2}"/>
              </a:ext>
            </a:extLst>
          </p:cNvPr>
          <p:cNvSpPr/>
          <p:nvPr/>
        </p:nvSpPr>
        <p:spPr>
          <a:xfrm>
            <a:off x="3170718" y="3701072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717040F-5077-2878-1DC4-B577503D2EE1}"/>
              </a:ext>
            </a:extLst>
          </p:cNvPr>
          <p:cNvSpPr txBox="1"/>
          <p:nvPr/>
        </p:nvSpPr>
        <p:spPr>
          <a:xfrm>
            <a:off x="5562001" y="4920072"/>
            <a:ext cx="1306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Tests et améliorations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E729291C-9E6D-0684-152E-9FDF5B8FCEAD}"/>
              </a:ext>
            </a:extLst>
          </p:cNvPr>
          <p:cNvSpPr/>
          <p:nvPr/>
        </p:nvSpPr>
        <p:spPr>
          <a:xfrm>
            <a:off x="4118409" y="4709925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9F95B09-9DC3-9B34-E06D-7C8911146215}"/>
              </a:ext>
            </a:extLst>
          </p:cNvPr>
          <p:cNvSpPr txBox="1"/>
          <p:nvPr/>
        </p:nvSpPr>
        <p:spPr>
          <a:xfrm>
            <a:off x="3594987" y="2902366"/>
            <a:ext cx="1042204" cy="38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GitHub, CI/CD, </a:t>
            </a:r>
            <a:r>
              <a:rPr lang="fr-FR" sz="1100" dirty="0" err="1">
                <a:latin typeface="Congenial" panose="02000503040000020004" pitchFamily="2" charset="0"/>
              </a:rPr>
              <a:t>readme</a:t>
            </a:r>
            <a:r>
              <a:rPr lang="fr-FR" sz="1100" dirty="0">
                <a:latin typeface="Congenial" panose="02000503040000020004" pitchFamily="2" charset="0"/>
              </a:rPr>
              <a:t>, etc.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F4C69399-8CB7-063E-DD70-811D226CD6F5}"/>
              </a:ext>
            </a:extLst>
          </p:cNvPr>
          <p:cNvSpPr/>
          <p:nvPr/>
        </p:nvSpPr>
        <p:spPr>
          <a:xfrm>
            <a:off x="2150001" y="2692219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7A3E0D-E2B6-A3A7-8495-FC347BFF05C8}"/>
              </a:ext>
            </a:extLst>
          </p:cNvPr>
          <p:cNvSpPr txBox="1"/>
          <p:nvPr/>
        </p:nvSpPr>
        <p:spPr>
          <a:xfrm>
            <a:off x="2563712" y="1880684"/>
            <a:ext cx="1042204" cy="168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Objectifs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B389103-88CA-7535-4264-3A74BDEA2AF9}"/>
              </a:ext>
            </a:extLst>
          </p:cNvPr>
          <p:cNvSpPr/>
          <p:nvPr/>
        </p:nvSpPr>
        <p:spPr>
          <a:xfrm>
            <a:off x="1118726" y="168336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  <p:sp>
        <p:nvSpPr>
          <p:cNvPr id="14" name="ZoneTexte 26">
            <a:extLst>
              <a:ext uri="{FF2B5EF4-FFF2-40B4-BE49-F238E27FC236}">
                <a16:creationId xmlns:a16="http://schemas.microsoft.com/office/drawing/2014/main" id="{8CEFBF80-1DEB-13A9-880E-A92367D56645}"/>
              </a:ext>
            </a:extLst>
          </p:cNvPr>
          <p:cNvSpPr txBox="1"/>
          <p:nvPr/>
        </p:nvSpPr>
        <p:spPr>
          <a:xfrm>
            <a:off x="6564938" y="5928923"/>
            <a:ext cx="1444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Exécution complète</a:t>
            </a:r>
          </a:p>
        </p:txBody>
      </p:sp>
      <p:sp>
        <p:nvSpPr>
          <p:cNvPr id="15" name="Rectangle : coins arrondis 36">
            <a:extLst>
              <a:ext uri="{FF2B5EF4-FFF2-40B4-BE49-F238E27FC236}">
                <a16:creationId xmlns:a16="http://schemas.microsoft.com/office/drawing/2014/main" id="{005BF106-A726-9573-511E-45CAE95BD0FA}"/>
              </a:ext>
            </a:extLst>
          </p:cNvPr>
          <p:cNvSpPr/>
          <p:nvPr/>
        </p:nvSpPr>
        <p:spPr>
          <a:xfrm>
            <a:off x="5121346" y="571877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DEMO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200393-AAC6-3B13-C5F1-C4CE932F13E5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5" name="Connecteur droit 6">
              <a:extLst>
                <a:ext uri="{FF2B5EF4-FFF2-40B4-BE49-F238E27FC236}">
                  <a16:creationId xmlns:a16="http://schemas.microsoft.com/office/drawing/2014/main" id="{F261CC39-8420-E5FD-4731-9380502018AC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3">
              <a:extLst>
                <a:ext uri="{FF2B5EF4-FFF2-40B4-BE49-F238E27FC236}">
                  <a16:creationId xmlns:a16="http://schemas.microsoft.com/office/drawing/2014/main" id="{5796CB0D-C228-67FC-74B5-D743466545B5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6924CC-7B98-CF9F-D34B-D0183E4F9A70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3" name="Graphic 12" descr="Flip calendar">
              <a:extLst>
                <a:ext uri="{FF2B5EF4-FFF2-40B4-BE49-F238E27FC236}">
                  <a16:creationId xmlns:a16="http://schemas.microsoft.com/office/drawing/2014/main" id="{C0B6DE5D-B0DB-9DE0-AD2E-8DF539BD1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990F4B3-EBCD-B6A7-F17E-4EDD48153B0B}"/>
              </a:ext>
            </a:extLst>
          </p:cNvPr>
          <p:cNvSpPr/>
          <p:nvPr/>
        </p:nvSpPr>
        <p:spPr>
          <a:xfrm>
            <a:off x="0" y="-3128212"/>
            <a:ext cx="6096000" cy="2810636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🎯 Objectif Principal</a:t>
            </a:r>
            <a:b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</a:b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Puls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-Events souhaite tester un nouveau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chatbot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 intelligent capable de répondre à des questions utilisateurs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07DDC0-131C-7A96-9248-F3BB2B9A5A87}"/>
              </a:ext>
            </a:extLst>
          </p:cNvPr>
          <p:cNvSpPr/>
          <p:nvPr/>
        </p:nvSpPr>
        <p:spPr>
          <a:xfrm>
            <a:off x="6096000" y="-3128211"/>
            <a:ext cx="6096000" cy="2810636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📦 Plan d'action 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⚙️ Développement &amp; Déploiement (API)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Pré-traitement de données.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Vectorisation et indexation.</a:t>
            </a:r>
          </a:p>
          <a:p>
            <a:pPr lvl="1"/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Chatbot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API pour exposer le système RAG.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Conteneurisation de la solution (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Dockerfile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).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6A16F7-E8C0-F90B-2C24-35B7C87B0813}"/>
              </a:ext>
            </a:extLst>
          </p:cNvPr>
          <p:cNvSpPr/>
          <p:nvPr/>
        </p:nvSpPr>
        <p:spPr>
          <a:xfrm>
            <a:off x="6096000" y="7045741"/>
            <a:ext cx="6096000" cy="2699834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📝 Documentation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Fichier README complet et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Dockerfile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 pour la migration.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3EB9CA-CF3C-4158-5C24-79816AC57F58}"/>
              </a:ext>
            </a:extLst>
          </p:cNvPr>
          <p:cNvSpPr/>
          <p:nvPr/>
        </p:nvSpPr>
        <p:spPr>
          <a:xfrm>
            <a:off x="0" y="7045741"/>
            <a:ext cx="6096000" cy="2699834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🚀 Rôle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Data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scientist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, spécialisé dans le traitement du langage naturel et la création de systèmes intelligents.</a:t>
            </a:r>
          </a:p>
        </p:txBody>
      </p:sp>
      <p:sp>
        <p:nvSpPr>
          <p:cNvPr id="25" name="Rectangle : coins arrondis 14">
            <a:extLst>
              <a:ext uri="{FF2B5EF4-FFF2-40B4-BE49-F238E27FC236}">
                <a16:creationId xmlns:a16="http://schemas.microsoft.com/office/drawing/2014/main" id="{B29B17C0-074E-6580-1C50-FD725B9FA7A4}"/>
              </a:ext>
            </a:extLst>
          </p:cNvPr>
          <p:cNvSpPr/>
          <p:nvPr/>
        </p:nvSpPr>
        <p:spPr>
          <a:xfrm>
            <a:off x="5266952" y="10638251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</p:spTree>
    <p:extLst>
      <p:ext uri="{BB962C8B-B14F-4D97-AF65-F5344CB8AC3E}">
        <p14:creationId xmlns:p14="http://schemas.microsoft.com/office/powerpoint/2010/main" val="1499985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4EDD-1846-3C76-1088-71C021EF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794819-426E-F95E-A120-84D0E640F4DF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CC3516-8A36-0C8C-C6E8-BBDB08020354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8F78AFD6-DBD7-02DB-CC8E-A2578F1E3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CA250A3-AB2C-FEB7-D447-63E3A2FDEEEB}"/>
              </a:ext>
            </a:extLst>
          </p:cNvPr>
          <p:cNvSpPr txBox="1"/>
          <p:nvPr/>
        </p:nvSpPr>
        <p:spPr>
          <a:xfrm>
            <a:off x="5133975" y="-564189"/>
            <a:ext cx="1924050" cy="523220"/>
          </a:xfrm>
          <a:prstGeom prst="rect">
            <a:avLst/>
          </a:prstGeom>
          <a:solidFill>
            <a:srgbClr val="F2F2F2"/>
          </a:solidFill>
          <a:ln>
            <a:solidFill>
              <a:srgbClr val="2B1515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Congenial" panose="020F0502020204030204" pitchFamily="2" charset="0"/>
              </a:rPr>
              <a:t>Sommaire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F42264-8B34-704E-1966-8C56D11FC140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12" name="Connecteur droit 6">
              <a:extLst>
                <a:ext uri="{FF2B5EF4-FFF2-40B4-BE49-F238E27FC236}">
                  <a16:creationId xmlns:a16="http://schemas.microsoft.com/office/drawing/2014/main" id="{7D9D1527-F750-1C93-3FB3-B64C6F297552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3">
              <a:extLst>
                <a:ext uri="{FF2B5EF4-FFF2-40B4-BE49-F238E27FC236}">
                  <a16:creationId xmlns:a16="http://schemas.microsoft.com/office/drawing/2014/main" id="{887C7D82-C208-4C23-D3E9-85037B0FDBE9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7E87C42-5ED2-99DA-9B0F-726F73D43EE6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7" name="Graphic 16" descr="Flip calendar">
              <a:extLst>
                <a:ext uri="{FF2B5EF4-FFF2-40B4-BE49-F238E27FC236}">
                  <a16:creationId xmlns:a16="http://schemas.microsoft.com/office/drawing/2014/main" id="{8B1AB491-0DA0-4E8F-BF62-F7C40021B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sp>
        <p:nvSpPr>
          <p:cNvPr id="19" name="ZoneTexte 20">
            <a:extLst>
              <a:ext uri="{FF2B5EF4-FFF2-40B4-BE49-F238E27FC236}">
                <a16:creationId xmlns:a16="http://schemas.microsoft.com/office/drawing/2014/main" id="{C23F09C7-C920-3129-D53B-3F5C84A62E0C}"/>
              </a:ext>
            </a:extLst>
          </p:cNvPr>
          <p:cNvSpPr txBox="1"/>
          <p:nvPr/>
        </p:nvSpPr>
        <p:spPr>
          <a:xfrm>
            <a:off x="-1232193" y="3911219"/>
            <a:ext cx="1234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err="1">
                <a:latin typeface="Congenial" panose="02000503040000020004" pitchFamily="2" charset="0"/>
              </a:rPr>
              <a:t>OpenAgenda,Mistral</a:t>
            </a:r>
            <a:endParaRPr lang="fr-FR" sz="1100" dirty="0">
              <a:latin typeface="Congenial" panose="02000503040000020004" pitchFamily="2" charset="0"/>
            </a:endParaRPr>
          </a:p>
        </p:txBody>
      </p:sp>
      <p:sp>
        <p:nvSpPr>
          <p:cNvPr id="20" name="Rectangle : coins arrondis 35">
            <a:extLst>
              <a:ext uri="{FF2B5EF4-FFF2-40B4-BE49-F238E27FC236}">
                <a16:creationId xmlns:a16="http://schemas.microsoft.com/office/drawing/2014/main" id="{7FC297A2-2A2D-313B-267A-CCB374ADA411}"/>
              </a:ext>
            </a:extLst>
          </p:cNvPr>
          <p:cNvSpPr/>
          <p:nvPr/>
        </p:nvSpPr>
        <p:spPr>
          <a:xfrm>
            <a:off x="-2661719" y="3701072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  <p:sp>
        <p:nvSpPr>
          <p:cNvPr id="23" name="ZoneTexte 26">
            <a:extLst>
              <a:ext uri="{FF2B5EF4-FFF2-40B4-BE49-F238E27FC236}">
                <a16:creationId xmlns:a16="http://schemas.microsoft.com/office/drawing/2014/main" id="{066FC2FF-7E89-DE6F-2986-1DFC95F41B47}"/>
              </a:ext>
            </a:extLst>
          </p:cNvPr>
          <p:cNvSpPr txBox="1"/>
          <p:nvPr/>
        </p:nvSpPr>
        <p:spPr>
          <a:xfrm>
            <a:off x="-1257988" y="4920072"/>
            <a:ext cx="1306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Tests et améliorations</a:t>
            </a:r>
          </a:p>
        </p:txBody>
      </p:sp>
      <p:sp>
        <p:nvSpPr>
          <p:cNvPr id="27" name="Rectangle : coins arrondis 36">
            <a:extLst>
              <a:ext uri="{FF2B5EF4-FFF2-40B4-BE49-F238E27FC236}">
                <a16:creationId xmlns:a16="http://schemas.microsoft.com/office/drawing/2014/main" id="{BC16E7B3-66AC-9A03-8EA9-CEDDEE28DAD5}"/>
              </a:ext>
            </a:extLst>
          </p:cNvPr>
          <p:cNvSpPr/>
          <p:nvPr/>
        </p:nvSpPr>
        <p:spPr>
          <a:xfrm>
            <a:off x="-2701580" y="4709925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4DD87E5-A08E-C59B-7E34-E0AFE8CAF217}"/>
              </a:ext>
            </a:extLst>
          </p:cNvPr>
          <p:cNvSpPr txBox="1"/>
          <p:nvPr/>
        </p:nvSpPr>
        <p:spPr>
          <a:xfrm>
            <a:off x="-1103904" y="2753223"/>
            <a:ext cx="1042204" cy="38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GitHub, CI/CD, </a:t>
            </a:r>
            <a:r>
              <a:rPr lang="fr-FR" sz="1100" dirty="0" err="1">
                <a:latin typeface="Congenial" panose="02000503040000020004" pitchFamily="2" charset="0"/>
              </a:rPr>
              <a:t>readme</a:t>
            </a:r>
            <a:r>
              <a:rPr lang="fr-FR" sz="1100" dirty="0">
                <a:latin typeface="Congenial" panose="02000503040000020004" pitchFamily="2" charset="0"/>
              </a:rPr>
              <a:t>, etc.</a:t>
            </a:r>
          </a:p>
        </p:txBody>
      </p:sp>
      <p:sp>
        <p:nvSpPr>
          <p:cNvPr id="29" name="Rectangle : coins arrondis 37">
            <a:extLst>
              <a:ext uri="{FF2B5EF4-FFF2-40B4-BE49-F238E27FC236}">
                <a16:creationId xmlns:a16="http://schemas.microsoft.com/office/drawing/2014/main" id="{94A786F9-CA49-FDB9-37FA-F4F3B916B4EB}"/>
              </a:ext>
            </a:extLst>
          </p:cNvPr>
          <p:cNvSpPr/>
          <p:nvPr/>
        </p:nvSpPr>
        <p:spPr>
          <a:xfrm>
            <a:off x="-2585156" y="2692219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  <p:sp>
        <p:nvSpPr>
          <p:cNvPr id="31" name="ZoneTexte 22">
            <a:extLst>
              <a:ext uri="{FF2B5EF4-FFF2-40B4-BE49-F238E27FC236}">
                <a16:creationId xmlns:a16="http://schemas.microsoft.com/office/drawing/2014/main" id="{2BD6F5AE-ABD8-0996-F913-1915516EAC28}"/>
              </a:ext>
            </a:extLst>
          </p:cNvPr>
          <p:cNvSpPr txBox="1"/>
          <p:nvPr/>
        </p:nvSpPr>
        <p:spPr>
          <a:xfrm>
            <a:off x="-1165605" y="1880684"/>
            <a:ext cx="1042204" cy="168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Objectifs</a:t>
            </a:r>
          </a:p>
        </p:txBody>
      </p:sp>
      <p:sp>
        <p:nvSpPr>
          <p:cNvPr id="33" name="Rectangle : coins arrondis 31">
            <a:extLst>
              <a:ext uri="{FF2B5EF4-FFF2-40B4-BE49-F238E27FC236}">
                <a16:creationId xmlns:a16="http://schemas.microsoft.com/office/drawing/2014/main" id="{A3C59E35-2FDA-88A4-22B6-3A141F854DA9}"/>
              </a:ext>
            </a:extLst>
          </p:cNvPr>
          <p:cNvSpPr/>
          <p:nvPr/>
        </p:nvSpPr>
        <p:spPr>
          <a:xfrm>
            <a:off x="-2610591" y="168336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  <p:sp>
        <p:nvSpPr>
          <p:cNvPr id="34" name="ZoneTexte 26">
            <a:extLst>
              <a:ext uri="{FF2B5EF4-FFF2-40B4-BE49-F238E27FC236}">
                <a16:creationId xmlns:a16="http://schemas.microsoft.com/office/drawing/2014/main" id="{683C7AB8-DF30-AC78-3558-C25F6EE80063}"/>
              </a:ext>
            </a:extLst>
          </p:cNvPr>
          <p:cNvSpPr txBox="1"/>
          <p:nvPr/>
        </p:nvSpPr>
        <p:spPr>
          <a:xfrm>
            <a:off x="-1452915" y="5928923"/>
            <a:ext cx="1444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Congenial" panose="02000503040000020004" pitchFamily="2" charset="0"/>
              </a:rPr>
              <a:t>Exécution complète</a:t>
            </a:r>
          </a:p>
        </p:txBody>
      </p:sp>
      <p:sp>
        <p:nvSpPr>
          <p:cNvPr id="36" name="Rectangle : coins arrondis 36">
            <a:extLst>
              <a:ext uri="{FF2B5EF4-FFF2-40B4-BE49-F238E27FC236}">
                <a16:creationId xmlns:a16="http://schemas.microsoft.com/office/drawing/2014/main" id="{2EBA4446-BF8D-D426-8632-6C2FFE6C02E6}"/>
              </a:ext>
            </a:extLst>
          </p:cNvPr>
          <p:cNvSpPr/>
          <p:nvPr/>
        </p:nvSpPr>
        <p:spPr>
          <a:xfrm>
            <a:off x="-2896507" y="5718776"/>
            <a:ext cx="1444986" cy="698224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8A2BE6-556B-7CAF-076B-513CE9CE164D}"/>
              </a:ext>
            </a:extLst>
          </p:cNvPr>
          <p:cNvSpPr/>
          <p:nvPr/>
        </p:nvSpPr>
        <p:spPr>
          <a:xfrm>
            <a:off x="6096000" y="4158166"/>
            <a:ext cx="6096000" cy="2699834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📝 Documentation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Fichier README complet et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Dockerfile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 pour la migration.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3EB478-96CB-6AD1-FD8E-9077CECB8B60}"/>
              </a:ext>
            </a:extLst>
          </p:cNvPr>
          <p:cNvSpPr/>
          <p:nvPr/>
        </p:nvSpPr>
        <p:spPr>
          <a:xfrm>
            <a:off x="0" y="4158166"/>
            <a:ext cx="6096000" cy="2699834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🚀 Rôle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Data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scientist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, spécialisé dans le traitement du langage naturel et la création de systèmes intelligents.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D0F2A9-42DE-1E27-4BD3-1B4045440CCD}"/>
              </a:ext>
            </a:extLst>
          </p:cNvPr>
          <p:cNvSpPr/>
          <p:nvPr/>
        </p:nvSpPr>
        <p:spPr>
          <a:xfrm>
            <a:off x="0" y="1347530"/>
            <a:ext cx="6096000" cy="2810636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🎯 Objectif Principal</a:t>
            </a:r>
            <a:b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</a:b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Puls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-Events souhaite tester un nouveau 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chatbot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 intelligent capable de répondre à des questions utilisateurs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88364C-DE4F-19BC-770D-2D70537A3BEA}"/>
              </a:ext>
            </a:extLst>
          </p:cNvPr>
          <p:cNvSpPr/>
          <p:nvPr/>
        </p:nvSpPr>
        <p:spPr>
          <a:xfrm>
            <a:off x="6096000" y="1347531"/>
            <a:ext cx="6096000" cy="2810636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📦 Plan d'action 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r>
              <a:rPr lang="fr-FR" b="1" dirty="0">
                <a:solidFill>
                  <a:srgbClr val="2B1515"/>
                </a:solidFill>
                <a:latin typeface="Congenial" panose="02000503040000020004" pitchFamily="2" charset="0"/>
              </a:rPr>
              <a:t>⚙️ Développement &amp; Déploiement (API)</a:t>
            </a:r>
            <a:endParaRPr lang="fr-FR" dirty="0">
              <a:solidFill>
                <a:srgbClr val="2B1515"/>
              </a:solidFill>
              <a:latin typeface="Congenial" panose="02000503040000020004" pitchFamily="2" charset="0"/>
            </a:endParaRP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Pré-traitement de données.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Vectorisation et indexation.</a:t>
            </a:r>
          </a:p>
          <a:p>
            <a:pPr lvl="1"/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Chatbot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API pour exposer le système RAG.</a:t>
            </a:r>
          </a:p>
          <a:p>
            <a:pPr lvl="1"/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Conteneurisation de la solution (</a:t>
            </a:r>
            <a:r>
              <a:rPr lang="fr-FR" dirty="0" err="1">
                <a:solidFill>
                  <a:srgbClr val="2B1515"/>
                </a:solidFill>
                <a:latin typeface="Congenial" panose="02000503040000020004" pitchFamily="2" charset="0"/>
              </a:rPr>
              <a:t>Dockerfile</a:t>
            </a:r>
            <a:r>
              <a:rPr lang="fr-FR" dirty="0">
                <a:solidFill>
                  <a:srgbClr val="2B1515"/>
                </a:solidFill>
                <a:latin typeface="Congenial" panose="02000503040000020004" pitchFamily="2" charset="0"/>
              </a:rPr>
              <a:t>).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2021E6C-5A16-D53F-0025-EEB49E957500}"/>
              </a:ext>
            </a:extLst>
          </p:cNvPr>
          <p:cNvSpPr/>
          <p:nvPr/>
        </p:nvSpPr>
        <p:spPr>
          <a:xfrm>
            <a:off x="5313668" y="481593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</p:spTree>
    <p:extLst>
      <p:ext uri="{BB962C8B-B14F-4D97-AF65-F5344CB8AC3E}">
        <p14:creationId xmlns:p14="http://schemas.microsoft.com/office/powerpoint/2010/main" val="2112878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57A7-78CD-71F3-B690-9249FAB7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1C2D21-E53F-70A4-B18B-4B5D16136FF0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DFC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A50C11-0A23-97E0-D2A5-F72E11CDE255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D9698026-0DB9-A781-6A63-3C6D0E3AF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 : coins arrondis 14">
            <a:extLst>
              <a:ext uri="{FF2B5EF4-FFF2-40B4-BE49-F238E27FC236}">
                <a16:creationId xmlns:a16="http://schemas.microsoft.com/office/drawing/2014/main" id="{B4C41CAD-2185-C7ED-CE9E-3D51772BD089}"/>
              </a:ext>
            </a:extLst>
          </p:cNvPr>
          <p:cNvSpPr/>
          <p:nvPr/>
        </p:nvSpPr>
        <p:spPr>
          <a:xfrm>
            <a:off x="5304703" y="-1224212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Mission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2D2397-7D85-5B97-9D9A-82FB95EE93AA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14" name="Connecteur droit 6">
              <a:extLst>
                <a:ext uri="{FF2B5EF4-FFF2-40B4-BE49-F238E27FC236}">
                  <a16:creationId xmlns:a16="http://schemas.microsoft.com/office/drawing/2014/main" id="{DD06094A-09B8-BB0E-E103-629122D0E742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3">
              <a:extLst>
                <a:ext uri="{FF2B5EF4-FFF2-40B4-BE49-F238E27FC236}">
                  <a16:creationId xmlns:a16="http://schemas.microsoft.com/office/drawing/2014/main" id="{8937395E-8E2D-56F5-2A75-1321CD3100BB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88C12D-EC8E-E6C0-CDD2-773EF46FF06F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8" name="Graphic 17" descr="Flip calendar">
              <a:extLst>
                <a:ext uri="{FF2B5EF4-FFF2-40B4-BE49-F238E27FC236}">
                  <a16:creationId xmlns:a16="http://schemas.microsoft.com/office/drawing/2014/main" id="{DA87A798-CB8B-3D1A-03BF-9EB0058C7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5FA5A37F-4FD7-B160-8C88-200F86BA5C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5" y="1354074"/>
            <a:ext cx="11234737" cy="5413388"/>
          </a:xfrm>
          <a:prstGeom prst="rect">
            <a:avLst/>
          </a:prstGeom>
        </p:spPr>
      </p:pic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C2FAC59-9A33-54E9-AB16-68879573B9CB}"/>
              </a:ext>
            </a:extLst>
          </p:cNvPr>
          <p:cNvSpPr/>
          <p:nvPr/>
        </p:nvSpPr>
        <p:spPr>
          <a:xfrm>
            <a:off x="5297678" y="326669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2997798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EFDE0-E9F4-09DB-D71A-BB398760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EAD2F1-1680-EC02-F460-F49376134C00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DFC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DC86AA-5BBB-3C47-8A07-2CFC5177ED81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4838FBAC-F7E7-18FE-F2CC-45418B7D8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AA43DA5-2EEF-7F16-825B-D3E89CCCD763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14" name="Connecteur droit 6">
              <a:extLst>
                <a:ext uri="{FF2B5EF4-FFF2-40B4-BE49-F238E27FC236}">
                  <a16:creationId xmlns:a16="http://schemas.microsoft.com/office/drawing/2014/main" id="{B4803A4A-771F-BEFD-26DA-5C8F4CD86A7E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3">
              <a:extLst>
                <a:ext uri="{FF2B5EF4-FFF2-40B4-BE49-F238E27FC236}">
                  <a16:creationId xmlns:a16="http://schemas.microsoft.com/office/drawing/2014/main" id="{F437AF5D-A9C5-B939-6782-70D6AC05D577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4631A1-F06A-657E-D4F6-F10B01A55128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8" name="Graphic 17" descr="Flip calendar">
              <a:extLst>
                <a:ext uri="{FF2B5EF4-FFF2-40B4-BE49-F238E27FC236}">
                  <a16:creationId xmlns:a16="http://schemas.microsoft.com/office/drawing/2014/main" id="{13E8BE28-7E2D-70E5-F0C2-9F6A7B24D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BD293D-297A-8F89-653B-BCC7498696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36" y="1406039"/>
            <a:ext cx="9654491" cy="5433538"/>
          </a:xfrm>
          <a:prstGeom prst="rect">
            <a:avLst/>
          </a:prstGeom>
        </p:spPr>
      </p:pic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1B41B56-BA38-383A-767E-11158996929D}"/>
              </a:ext>
            </a:extLst>
          </p:cNvPr>
          <p:cNvSpPr/>
          <p:nvPr/>
        </p:nvSpPr>
        <p:spPr>
          <a:xfrm>
            <a:off x="5297678" y="326669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  <p:sp>
        <p:nvSpPr>
          <p:cNvPr id="7" name="Rectangle : coins arrondis 16">
            <a:extLst>
              <a:ext uri="{FF2B5EF4-FFF2-40B4-BE49-F238E27FC236}">
                <a16:creationId xmlns:a16="http://schemas.microsoft.com/office/drawing/2014/main" id="{97078F5B-0839-171D-7056-CF7C630864C6}"/>
              </a:ext>
            </a:extLst>
          </p:cNvPr>
          <p:cNvSpPr/>
          <p:nvPr/>
        </p:nvSpPr>
        <p:spPr>
          <a:xfrm>
            <a:off x="5297678" y="7285781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429890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FD13-E615-4DF8-E8F1-2AC7D3B9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5DD41F-DB62-ADA4-9B61-AA559A307A54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7275A733-1423-4754-CBC4-413CF106CF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AutoShape 2">
            <a:extLst>
              <a:ext uri="{FF2B5EF4-FFF2-40B4-BE49-F238E27FC236}">
                <a16:creationId xmlns:a16="http://schemas.microsoft.com/office/drawing/2014/main" id="{4EBDD889-B31A-F0A4-ED5A-CB0F33D46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2" name="Rectangle : coins arrondis 19">
            <a:extLst>
              <a:ext uri="{FF2B5EF4-FFF2-40B4-BE49-F238E27FC236}">
                <a16:creationId xmlns:a16="http://schemas.microsoft.com/office/drawing/2014/main" id="{84EBCF37-0BA6-941E-4C26-67326E7A2CBD}"/>
              </a:ext>
            </a:extLst>
          </p:cNvPr>
          <p:cNvSpPr/>
          <p:nvPr/>
        </p:nvSpPr>
        <p:spPr>
          <a:xfrm>
            <a:off x="5297677" y="-1218082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Structure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D915C9-58A8-E1AB-2F7D-F4A22B6DD803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20" name="Connecteur droit 6">
              <a:extLst>
                <a:ext uri="{FF2B5EF4-FFF2-40B4-BE49-F238E27FC236}">
                  <a16:creationId xmlns:a16="http://schemas.microsoft.com/office/drawing/2014/main" id="{749FC657-E500-9CC7-B4D6-E2376D4ABA91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3">
              <a:extLst>
                <a:ext uri="{FF2B5EF4-FFF2-40B4-BE49-F238E27FC236}">
                  <a16:creationId xmlns:a16="http://schemas.microsoft.com/office/drawing/2014/main" id="{69280ADC-1D4C-2E05-1D7B-A44133F912CC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7D1900-6C44-CAB6-4510-4085B2FBDA0E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5" name="Graphic 24" descr="Flip calendar">
              <a:extLst>
                <a:ext uri="{FF2B5EF4-FFF2-40B4-BE49-F238E27FC236}">
                  <a16:creationId xmlns:a16="http://schemas.microsoft.com/office/drawing/2014/main" id="{392CE406-90E9-8B6D-3247-D7FD5443D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BC8B335-6827-1A94-CA35-8C7426C015B3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AF8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F0D649-2E10-2BD2-872E-499780F33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89" y="1360186"/>
            <a:ext cx="11417617" cy="5450377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450C7F2-F061-F406-DE85-C6FB8B4D0392}"/>
              </a:ext>
            </a:extLst>
          </p:cNvPr>
          <p:cNvSpPr/>
          <p:nvPr/>
        </p:nvSpPr>
        <p:spPr>
          <a:xfrm>
            <a:off x="5297678" y="403719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  <p:sp>
        <p:nvSpPr>
          <p:cNvPr id="31" name="Rectangle : coins arrondis 18">
            <a:extLst>
              <a:ext uri="{FF2B5EF4-FFF2-40B4-BE49-F238E27FC236}">
                <a16:creationId xmlns:a16="http://schemas.microsoft.com/office/drawing/2014/main" id="{B9EC7F3C-1A93-4031-92D4-062A2645AF2E}"/>
              </a:ext>
            </a:extLst>
          </p:cNvPr>
          <p:cNvSpPr/>
          <p:nvPr/>
        </p:nvSpPr>
        <p:spPr>
          <a:xfrm>
            <a:off x="5297678" y="7230087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84353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9907-6F93-2504-E7B5-05922576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374C5E-3216-2D9B-0AE9-69D3A3ECB947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DFD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22AA4-B5C8-F131-D0C8-08D557D8013F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5C37EDD6-02DD-2887-0652-E208A5F47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2571F6-9DB3-5FEE-C4C0-C472D8571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53" y="1363393"/>
            <a:ext cx="8866292" cy="5494607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FF7823D-B770-F29E-2490-2F7F50AA5E48}"/>
              </a:ext>
            </a:extLst>
          </p:cNvPr>
          <p:cNvSpPr/>
          <p:nvPr/>
        </p:nvSpPr>
        <p:spPr>
          <a:xfrm>
            <a:off x="5297678" y="420213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  <p:sp>
        <p:nvSpPr>
          <p:cNvPr id="22" name="Rectangle : coins arrondis 16">
            <a:extLst>
              <a:ext uri="{FF2B5EF4-FFF2-40B4-BE49-F238E27FC236}">
                <a16:creationId xmlns:a16="http://schemas.microsoft.com/office/drawing/2014/main" id="{2EA87290-0F49-61DB-036A-9CBD1437ED4D}"/>
              </a:ext>
            </a:extLst>
          </p:cNvPr>
          <p:cNvSpPr/>
          <p:nvPr/>
        </p:nvSpPr>
        <p:spPr>
          <a:xfrm>
            <a:off x="5297678" y="-1401015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Pipeline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9FC404-C4F5-A070-17BD-2D5EAE2D46D6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25" name="Connecteur droit 6">
              <a:extLst>
                <a:ext uri="{FF2B5EF4-FFF2-40B4-BE49-F238E27FC236}">
                  <a16:creationId xmlns:a16="http://schemas.microsoft.com/office/drawing/2014/main" id="{BDA50F09-610B-E621-08AC-50E0C51E3FA8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3">
              <a:extLst>
                <a:ext uri="{FF2B5EF4-FFF2-40B4-BE49-F238E27FC236}">
                  <a16:creationId xmlns:a16="http://schemas.microsoft.com/office/drawing/2014/main" id="{A9B697B2-3102-690C-6D1C-047B08353E92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B0AA52-BCE1-244F-1198-557E5A71FE2D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36" name="Graphic 35" descr="Flip calendar">
              <a:extLst>
                <a:ext uri="{FF2B5EF4-FFF2-40B4-BE49-F238E27FC236}">
                  <a16:creationId xmlns:a16="http://schemas.microsoft.com/office/drawing/2014/main" id="{C57F1D25-84D7-4010-34A6-0D28469DE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3097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6AC2-9E56-A6CD-39AB-791A6F9D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E4F964-788F-BB5D-C16C-DC7747075D70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CFB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DFA5E5-9BFF-19B7-2C6D-61C1D36C49D1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9728DBB5-6B65-DC71-BC5B-78938C593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94F9B2-0E94-9A2D-127E-DCDB553C6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36" y="1556762"/>
            <a:ext cx="9386926" cy="52829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9ED6429-5077-62F0-0188-FCE952B07CC7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5" name="Connecteur droit 6">
              <a:extLst>
                <a:ext uri="{FF2B5EF4-FFF2-40B4-BE49-F238E27FC236}">
                  <a16:creationId xmlns:a16="http://schemas.microsoft.com/office/drawing/2014/main" id="{7ACA08CF-260A-553E-ED6B-F4357E58A2D1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3">
              <a:extLst>
                <a:ext uri="{FF2B5EF4-FFF2-40B4-BE49-F238E27FC236}">
                  <a16:creationId xmlns:a16="http://schemas.microsoft.com/office/drawing/2014/main" id="{EBE5A73B-3332-D10B-9201-F42B5801AD6D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AFC25A-CAA6-EB00-247E-8A2A0B733D16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3" name="Graphic 12" descr="Flip calendar">
              <a:extLst>
                <a:ext uri="{FF2B5EF4-FFF2-40B4-BE49-F238E27FC236}">
                  <a16:creationId xmlns:a16="http://schemas.microsoft.com/office/drawing/2014/main" id="{43521F0A-56DB-582E-390C-C82D3DAD6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sp>
        <p:nvSpPr>
          <p:cNvPr id="15" name="Rectangle : coins arrondis 18">
            <a:extLst>
              <a:ext uri="{FF2B5EF4-FFF2-40B4-BE49-F238E27FC236}">
                <a16:creationId xmlns:a16="http://schemas.microsoft.com/office/drawing/2014/main" id="{A59E38DE-D4B1-7006-0513-8ADA4E8BEB5D}"/>
              </a:ext>
            </a:extLst>
          </p:cNvPr>
          <p:cNvSpPr/>
          <p:nvPr/>
        </p:nvSpPr>
        <p:spPr>
          <a:xfrm>
            <a:off x="5297678" y="420213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712850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6472-C08A-8F43-B802-685A64AB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0A5BE8-33B3-94E8-2727-5901BB6E3ADB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9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E3AC2-69BF-6D84-6813-FECE529B564E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10A5FC2E-C2CD-5148-A318-B9B3C0547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260E42-6F98-E505-5168-4997779BC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830" y="1529407"/>
            <a:ext cx="9248338" cy="52087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EE881B5-24C5-1B91-505F-E4F1F655711B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12" name="Connecteur droit 6">
              <a:extLst>
                <a:ext uri="{FF2B5EF4-FFF2-40B4-BE49-F238E27FC236}">
                  <a16:creationId xmlns:a16="http://schemas.microsoft.com/office/drawing/2014/main" id="{53B7804C-FA17-47CD-0215-CE9BADE63DA9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3">
              <a:extLst>
                <a:ext uri="{FF2B5EF4-FFF2-40B4-BE49-F238E27FC236}">
                  <a16:creationId xmlns:a16="http://schemas.microsoft.com/office/drawing/2014/main" id="{04AFCF64-5141-C0F7-B5AE-217B289C26D6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1805BB-3A9F-4614-201F-CA80F03982C5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6" name="Graphic 15" descr="Flip calendar">
              <a:extLst>
                <a:ext uri="{FF2B5EF4-FFF2-40B4-BE49-F238E27FC236}">
                  <a16:creationId xmlns:a16="http://schemas.microsoft.com/office/drawing/2014/main" id="{2D22E4F1-3CC0-C585-AEAF-191997701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  <p:sp>
        <p:nvSpPr>
          <p:cNvPr id="18" name="Rectangle : coins arrondis 18">
            <a:extLst>
              <a:ext uri="{FF2B5EF4-FFF2-40B4-BE49-F238E27FC236}">
                <a16:creationId xmlns:a16="http://schemas.microsoft.com/office/drawing/2014/main" id="{68D1620B-DC88-50B0-0FB9-A3D5418963F6}"/>
              </a:ext>
            </a:extLst>
          </p:cNvPr>
          <p:cNvSpPr/>
          <p:nvPr/>
        </p:nvSpPr>
        <p:spPr>
          <a:xfrm>
            <a:off x="5297678" y="420213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700215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F756-F7D8-1044-046C-06C84A49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8584FC-E3A5-E5E2-0D5C-E1AAFB958A80}"/>
              </a:ext>
            </a:extLst>
          </p:cNvPr>
          <p:cNvSpPr/>
          <p:nvPr/>
        </p:nvSpPr>
        <p:spPr>
          <a:xfrm>
            <a:off x="0" y="1333500"/>
            <a:ext cx="12192000" cy="552450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E158F-C311-9EBA-30BB-456AB397A285}"/>
              </a:ext>
            </a:extLst>
          </p:cNvPr>
          <p:cNvSpPr/>
          <p:nvPr/>
        </p:nvSpPr>
        <p:spPr>
          <a:xfrm>
            <a:off x="0" y="-8979"/>
            <a:ext cx="12192000" cy="1333500"/>
          </a:xfrm>
          <a:prstGeom prst="rect">
            <a:avLst/>
          </a:prstGeom>
          <a:solidFill>
            <a:srgbClr val="E0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OpenClassrooms">
            <a:extLst>
              <a:ext uri="{FF2B5EF4-FFF2-40B4-BE49-F238E27FC236}">
                <a16:creationId xmlns:a16="http://schemas.microsoft.com/office/drawing/2014/main" id="{5CDBEE03-DE77-C1DA-8797-83BC57A65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27" r="2786" b="41182"/>
          <a:stretch>
            <a:fillRect/>
          </a:stretch>
        </p:blipFill>
        <p:spPr bwMode="auto">
          <a:xfrm>
            <a:off x="7846480" y="302171"/>
            <a:ext cx="419947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C920268-810A-F83B-121B-1C7862F90755}"/>
              </a:ext>
            </a:extLst>
          </p:cNvPr>
          <p:cNvSpPr/>
          <p:nvPr/>
        </p:nvSpPr>
        <p:spPr>
          <a:xfrm>
            <a:off x="5297678" y="3554506"/>
            <a:ext cx="1596643" cy="1082488"/>
          </a:xfrm>
          <a:prstGeom prst="roundRect">
            <a:avLst/>
          </a:prstGeom>
          <a:solidFill>
            <a:srgbClr val="E04556"/>
          </a:solidFill>
          <a:ln w="25400">
            <a:solidFill>
              <a:srgbClr val="2B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ongenial" panose="02000503040000020004" pitchFamily="2" charset="0"/>
              </a:rPr>
              <a:t>DEMO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34F6F9-0B3D-7661-6F8A-B6F752A3A3FC}"/>
              </a:ext>
            </a:extLst>
          </p:cNvPr>
          <p:cNvGrpSpPr/>
          <p:nvPr/>
        </p:nvGrpSpPr>
        <p:grpSpPr>
          <a:xfrm>
            <a:off x="146050" y="195907"/>
            <a:ext cx="3632574" cy="1054645"/>
            <a:chOff x="146050" y="195907"/>
            <a:chExt cx="3632574" cy="1054645"/>
          </a:xfrm>
        </p:grpSpPr>
        <p:cxnSp>
          <p:nvCxnSpPr>
            <p:cNvPr id="5" name="Connecteur droit 6">
              <a:extLst>
                <a:ext uri="{FF2B5EF4-FFF2-40B4-BE49-F238E27FC236}">
                  <a16:creationId xmlns:a16="http://schemas.microsoft.com/office/drawing/2014/main" id="{6D247544-F13A-2D4F-88C9-4AD0B84E16B7}"/>
                </a:ext>
              </a:extLst>
            </p:cNvPr>
            <p:cNvCxnSpPr/>
            <p:nvPr/>
          </p:nvCxnSpPr>
          <p:spPr>
            <a:xfrm>
              <a:off x="146050" y="890065"/>
              <a:ext cx="3492500" cy="0"/>
            </a:xfrm>
            <a:prstGeom prst="line">
              <a:avLst/>
            </a:prstGeom>
            <a:ln>
              <a:solidFill>
                <a:srgbClr val="F2F2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3">
              <a:extLst>
                <a:ext uri="{FF2B5EF4-FFF2-40B4-BE49-F238E27FC236}">
                  <a16:creationId xmlns:a16="http://schemas.microsoft.com/office/drawing/2014/main" id="{6684A002-F8B5-8E36-96A1-A36C713076B8}"/>
                </a:ext>
              </a:extLst>
            </p:cNvPr>
            <p:cNvSpPr txBox="1"/>
            <p:nvPr/>
          </p:nvSpPr>
          <p:spPr>
            <a:xfrm>
              <a:off x="146050" y="195907"/>
              <a:ext cx="36325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 err="1">
                  <a:solidFill>
                    <a:srgbClr val="F2F2F2"/>
                  </a:solidFill>
                  <a:latin typeface="Forte" panose="020F0502020204030204" pitchFamily="66" charset="0"/>
                </a:rPr>
                <a:t>Puls</a:t>
              </a:r>
              <a:r>
                <a:rPr lang="fr-FR" sz="4000" dirty="0">
                  <a:solidFill>
                    <a:srgbClr val="F2F2F2"/>
                  </a:solidFill>
                  <a:latin typeface="Forte" panose="020F0502020204030204" pitchFamily="66" charset="0"/>
                </a:rPr>
                <a:t>-Events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3C5151-F443-3F55-FC80-440B5D007B1E}"/>
                </a:ext>
              </a:extLst>
            </p:cNvPr>
            <p:cNvSpPr/>
            <p:nvPr/>
          </p:nvSpPr>
          <p:spPr>
            <a:xfrm>
              <a:off x="1693761" y="824298"/>
              <a:ext cx="537150" cy="305615"/>
            </a:xfrm>
            <a:prstGeom prst="rect">
              <a:avLst/>
            </a:prstGeom>
            <a:solidFill>
              <a:srgbClr val="E045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8" name="Graphic 17" descr="Flip calendar">
              <a:extLst>
                <a:ext uri="{FF2B5EF4-FFF2-40B4-BE49-F238E27FC236}">
                  <a16:creationId xmlns:a16="http://schemas.microsoft.com/office/drawing/2014/main" id="{904EC499-57CE-2DD9-2D1E-1BD921D4D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88888" y="703657"/>
              <a:ext cx="546895" cy="54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2505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ème1" id="{F93F4346-C135-4F20-8677-0534D4F52FC3}" vid="{D7DAF89E-0457-4D8C-B5B2-11017723066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6509</TotalTime>
  <Words>286</Words>
  <Application>Microsoft Office PowerPoint</Application>
  <PresentationFormat>Widescreen</PresentationFormat>
  <Paragraphs>92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Congenial</vt:lpstr>
      <vt:lpstr>Congenial Black</vt:lpstr>
      <vt:lpstr>Forte</vt:lpstr>
      <vt:lpstr>Thème1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Malakoff Humanis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BRAVO CASTANEDA</dc:creator>
  <cp:lastModifiedBy>Jose Armando Bravo Castañeda</cp:lastModifiedBy>
  <cp:revision>29</cp:revision>
  <dcterms:created xsi:type="dcterms:W3CDTF">2026-06-24T09:02:04Z</dcterms:created>
  <dcterms:modified xsi:type="dcterms:W3CDTF">2026-07-28T18:37:36Z</dcterms:modified>
</cp:coreProperties>
</file>